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6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8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34992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0" y="1352554"/>
            <a:ext cx="7086600" cy="1368822"/>
          </a:xfrm>
        </p:spPr>
        <p:txBody>
          <a:bodyPr anchor="b">
            <a:normAutofit/>
          </a:bodyPr>
          <a:lstStyle>
            <a:lvl1pPr algn="l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2724151"/>
            <a:ext cx="7086600" cy="514350"/>
          </a:xfrm>
        </p:spPr>
        <p:txBody>
          <a:bodyPr>
            <a:normAutofit/>
          </a:bodyPr>
          <a:lstStyle>
            <a:lvl1pPr marL="0" indent="0" algn="l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32171" y="3235746"/>
            <a:ext cx="2183130" cy="280982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28700" y="3242884"/>
            <a:ext cx="4800600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7900" y="1073150"/>
            <a:ext cx="2057400" cy="273844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6090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161400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565150"/>
            <a:ext cx="8115299" cy="2101451"/>
          </a:xfrm>
        </p:spPr>
        <p:txBody>
          <a:bodyPr anchor="b">
            <a:normAutofit/>
          </a:bodyPr>
          <a:lstStyle>
            <a:lvl1pPr algn="r">
              <a:defRPr sz="3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350" y="2731294"/>
            <a:ext cx="7867650" cy="716756"/>
          </a:xfrm>
        </p:spPr>
        <p:txBody>
          <a:bodyPr>
            <a:normAutofit/>
          </a:bodyPr>
          <a:lstStyle>
            <a:lvl1pPr marL="0" indent="0" algn="r">
              <a:buNone/>
              <a:defRPr sz="16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4350" y="285751"/>
            <a:ext cx="5243619" cy="273049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52679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4350" y="1645920"/>
            <a:ext cx="4000500" cy="301809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645920"/>
            <a:ext cx="4000500" cy="301809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398732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571500"/>
            <a:ext cx="6457950" cy="97155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7" y="1637852"/>
            <a:ext cx="3809993" cy="617934"/>
          </a:xfrm>
        </p:spPr>
        <p:txBody>
          <a:bodyPr anchor="b">
            <a:norm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351" y="2349500"/>
            <a:ext cx="3983831" cy="23145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0600" y="1637852"/>
            <a:ext cx="3829050" cy="617934"/>
          </a:xfrm>
        </p:spPr>
        <p:txBody>
          <a:bodyPr anchor="b">
            <a:norm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49500"/>
            <a:ext cx="4000500" cy="23145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160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3132143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849111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143000"/>
            <a:ext cx="3086100" cy="1200150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46686" y="560070"/>
            <a:ext cx="4882964" cy="4103944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343150"/>
            <a:ext cx="3086100" cy="2320864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1032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143000"/>
            <a:ext cx="5154930" cy="1200150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95928" y="563431"/>
            <a:ext cx="2733722" cy="410058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343150"/>
            <a:ext cx="5154930" cy="2320864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858931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33" y="3523021"/>
            <a:ext cx="8116526" cy="614516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1295" y="706080"/>
            <a:ext cx="8116380" cy="260862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4137537"/>
            <a:ext cx="8115300" cy="526477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900333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565150"/>
            <a:ext cx="8115300" cy="2101850"/>
          </a:xfrm>
        </p:spPr>
        <p:txBody>
          <a:bodyPr anchor="ctr"/>
          <a:lstStyle>
            <a:lvl1pPr algn="l"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0" y="2736850"/>
            <a:ext cx="7597887" cy="749300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956"/>
            <a:ext cx="5243619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560562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1" y="565150"/>
            <a:ext cx="7613650" cy="1953371"/>
          </a:xfrm>
        </p:spPr>
        <p:txBody>
          <a:bodyPr anchor="ctr"/>
          <a:lstStyle>
            <a:lvl1pPr algn="l"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977899" y="2524168"/>
            <a:ext cx="7194552" cy="33333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1" y="2969897"/>
            <a:ext cx="7613650" cy="509903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956"/>
            <a:ext cx="5243619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357188" y="70008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8173" y="202596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36065031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71" y="843526"/>
            <a:ext cx="7609640" cy="1883876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0" y="2736237"/>
            <a:ext cx="7608491" cy="749914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4163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163"/>
            <a:ext cx="5243619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4024406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171701" y="571500"/>
            <a:ext cx="6457949" cy="9779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4350" y="1651560"/>
            <a:ext cx="2592324" cy="462990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4349" y="2178424"/>
            <a:ext cx="2592324" cy="248559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76600" y="1650999"/>
            <a:ext cx="2592324" cy="469901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275144" y="2178050"/>
            <a:ext cx="2592324" cy="24859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038850" y="1644649"/>
            <a:ext cx="2592324" cy="469901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6038851" y="2178424"/>
            <a:ext cx="2592324" cy="248559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352668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171701" y="571500"/>
            <a:ext cx="6457949" cy="97155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6463" y="3143250"/>
            <a:ext cx="2588687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6463" y="1771650"/>
            <a:ext cx="2588687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6463" y="3655323"/>
            <a:ext cx="2588687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80698" y="3143250"/>
            <a:ext cx="2586701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280697" y="1771650"/>
            <a:ext cx="2586702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280699" y="3655323"/>
            <a:ext cx="2586701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037299" y="3143250"/>
            <a:ext cx="2592352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37391" y="1771650"/>
            <a:ext cx="258590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6037299" y="3655321"/>
            <a:ext cx="2589334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2884243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1645920"/>
            <a:ext cx="8115300" cy="301809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2664786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6600" y="558800"/>
            <a:ext cx="1543050" cy="2927350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8350" y="558800"/>
            <a:ext cx="6153151" cy="292735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60839" y="284956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smtClean="0"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4350" y="285750"/>
            <a:ext cx="5243619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6330613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85080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08108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71700" y="573280"/>
            <a:ext cx="6457950" cy="9697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0" y="1645920"/>
            <a:ext cx="8115300" cy="301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46520" y="4767263"/>
            <a:ext cx="218313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0" y="4766884"/>
            <a:ext cx="58293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250" y="285750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5984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  <p:sldLayoutId id="2147483744" r:id="rId18"/>
  </p:sldLayoutIdLst>
  <p:hf sldNum="0" hdr="0" ftr="0" dt="0"/>
  <p:txStyles>
    <p:titleStyle>
      <a:lvl1pPr algn="r" defTabSz="685800" rtl="0" eaLnBrk="1" latinLnBrk="0" hangingPunct="1">
        <a:lnSpc>
          <a:spcPct val="90000"/>
        </a:lnSpc>
        <a:spcBef>
          <a:spcPct val="0"/>
        </a:spcBef>
        <a:buNone/>
        <a:defRPr sz="3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8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078D4">
              <a:alpha val="15000"/>
            </a:srgbClr>
          </a:solidFill>
          <a:ln w="12700">
            <a:solidFill>
              <a:srgbClr val="0078D4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370832"/>
            <a:ext cx="9144000" cy="64008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4434840"/>
            <a:ext cx="73152" cy="73152"/>
          </a:xfrm>
          <a:prstGeom prst="ellipse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37360" y="4434840"/>
            <a:ext cx="73152" cy="73152"/>
          </a:xfrm>
          <a:prstGeom prst="ellipse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0" y="4434840"/>
            <a:ext cx="73152" cy="73152"/>
          </a:xfrm>
          <a:prstGeom prst="ellipse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63440" y="4434840"/>
            <a:ext cx="73152" cy="73152"/>
          </a:xfrm>
          <a:prstGeom prst="ellipse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0" y="4434840"/>
            <a:ext cx="73152" cy="73152"/>
          </a:xfrm>
          <a:prstGeom prst="ellipse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89520" y="4434840"/>
            <a:ext cx="73152" cy="73152"/>
          </a:xfrm>
          <a:prstGeom prst="ellipse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UNIFIED AUTOMATION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" y="1508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kern="0" spc="300" dirty="0">
                <a:solidFill>
                  <a:srgbClr val="00C2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FRAMEWORK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BAFC5"/>
                </a:solidFill>
              </a:rPr>
              <a:t>Web · Mobile · Tablet · Smart TV — One Framework to Rule Them All</a:t>
            </a:r>
            <a:endParaRPr lang="en-US" sz="14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926080"/>
            <a:ext cx="457200" cy="4572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188720" y="34747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5"/>
                </a:solidFill>
              </a:rPr>
              <a:t>Web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292608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017520" y="34747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5"/>
                </a:solidFill>
              </a:rPr>
              <a:t>Android &amp; iOS</a:t>
            </a:r>
            <a:endParaRPr lang="en-US" sz="10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2926080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846320" y="34747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5"/>
                </a:solidFill>
              </a:rPr>
              <a:t>Tablet</a:t>
            </a:r>
            <a:endParaRPr lang="en-US" sz="10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292608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675120" y="34747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5"/>
                </a:solidFill>
              </a:rPr>
              <a:t>Smart TV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0" y="44622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AFC5"/>
                </a:solidFill>
              </a:rPr>
              <a:t>Automation Engineering  |  2024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078D4">
              <a:alpha val="15000"/>
            </a:srgbClr>
          </a:solidFill>
          <a:ln w="12700">
            <a:solidFill>
              <a:srgbClr val="0078D4">
                <a:alpha val="1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00C2FF"/>
                </a:solidFill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Traditional Frameworks Are Broken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4023360" cy="1371600"/>
          </a:xfrm>
          <a:prstGeom prst="rect">
            <a:avLst/>
          </a:prstGeom>
          <a:solidFill>
            <a:srgbClr val="152232"/>
          </a:solidFill>
          <a:ln w="12700">
            <a:solidFill>
              <a:srgbClr val="FF5252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325880"/>
            <a:ext cx="54864" cy="1371600"/>
          </a:xfrm>
          <a:prstGeom prst="rect">
            <a:avLst/>
          </a:prstGeom>
          <a:solidFill>
            <a:srgbClr val="FF5252"/>
          </a:solidFill>
          <a:ln w="12700">
            <a:solidFill>
              <a:srgbClr val="FF5252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9164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463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Platform-Specific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60120" y="18013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5"/>
                </a:solidFill>
              </a:rPr>
              <a:t>Separate frameworks for Web and Mobile — no unification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54880" y="1325880"/>
            <a:ext cx="4023360" cy="1371600"/>
          </a:xfrm>
          <a:prstGeom prst="rect">
            <a:avLst/>
          </a:prstGeom>
          <a:solidFill>
            <a:srgbClr val="152232"/>
          </a:solidFill>
          <a:ln w="12700">
            <a:solidFill>
              <a:srgbClr val="FF5252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1325880"/>
            <a:ext cx="54864" cy="1371600"/>
          </a:xfrm>
          <a:prstGeom prst="rect">
            <a:avLst/>
          </a:prstGeom>
          <a:solidFill>
            <a:srgbClr val="FF5252"/>
          </a:solidFill>
          <a:ln w="12700">
            <a:solidFill>
              <a:srgbClr val="FF5252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9164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49240" y="1463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Hard to Scale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349240" y="18013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5"/>
                </a:solidFill>
              </a:rPr>
              <a:t>Cannot handle multi-device execution without major rework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65760" y="2971800"/>
            <a:ext cx="4023360" cy="1371600"/>
          </a:xfrm>
          <a:prstGeom prst="rect">
            <a:avLst/>
          </a:prstGeom>
          <a:solidFill>
            <a:srgbClr val="152232"/>
          </a:solidFill>
          <a:ln w="12700">
            <a:solidFill>
              <a:srgbClr val="FF5252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65760" y="2971800"/>
            <a:ext cx="54864" cy="1371600"/>
          </a:xfrm>
          <a:prstGeom prst="rect">
            <a:avLst/>
          </a:prstGeom>
          <a:solidFill>
            <a:srgbClr val="FF5252"/>
          </a:solidFill>
          <a:ln w="12700">
            <a:solidFill>
              <a:srgbClr val="FF5252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33756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08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Not Reusable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960120" y="34472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5"/>
                </a:solidFill>
              </a:rPr>
              <a:t>Logic duplicated across environments and teams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754880" y="2971800"/>
            <a:ext cx="4023360" cy="1371600"/>
          </a:xfrm>
          <a:prstGeom prst="rect">
            <a:avLst/>
          </a:prstGeom>
          <a:solidFill>
            <a:srgbClr val="152232"/>
          </a:solidFill>
          <a:ln w="12700">
            <a:solidFill>
              <a:srgbClr val="FF5252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754880" y="2971800"/>
            <a:ext cx="54864" cy="1371600"/>
          </a:xfrm>
          <a:prstGeom prst="rect">
            <a:avLst/>
          </a:prstGeom>
          <a:solidFill>
            <a:srgbClr val="FF5252"/>
          </a:solidFill>
          <a:ln w="12700">
            <a:solidFill>
              <a:srgbClr val="FF5252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333756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49240" y="3108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Weak Reporting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5349240" y="34472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5"/>
                </a:solidFill>
              </a:rPr>
              <a:t>No centralized visibility into test outcomes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078D4">
              <a:alpha val="15000"/>
            </a:srgbClr>
          </a:solidFill>
          <a:ln w="12700">
            <a:solidFill>
              <a:srgbClr val="0078D4">
                <a:alpha val="1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E676"/>
                </a:solidFill>
              </a:rPr>
              <a:t>THE SOLUTION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Framework. Every Platform.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474720" y="2011680"/>
            <a:ext cx="2194560" cy="219456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C2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37744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474720" y="30632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UNIFIED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FRAMEWORK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82880" y="2286000"/>
            <a:ext cx="16459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00C2FF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395728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5800" y="244144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Web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82880" y="3200400"/>
            <a:ext cx="16459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00C2FF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3310128"/>
            <a:ext cx="347472" cy="3474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85800" y="335584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Android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223760" y="2286000"/>
            <a:ext cx="16459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00C2FF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2395728"/>
            <a:ext cx="347472" cy="3474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726680" y="244144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iOS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7223760" y="3200400"/>
            <a:ext cx="16459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00C2FF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0" y="3310128"/>
            <a:ext cx="347472" cy="34747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726680" y="335584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Tablet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3749040" y="4434840"/>
            <a:ext cx="16459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00C2FF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0" y="4544568"/>
            <a:ext cx="347472" cy="34747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4251960" y="459028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Smart TV</a:t>
            </a:r>
            <a:endParaRPr lang="en-US" sz="120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20" y="1261872"/>
            <a:ext cx="201168" cy="201168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548640" y="12344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D"/>
                </a:solidFill>
              </a:rPr>
              <a:t>Platform-agnostic execution</a:t>
            </a:r>
            <a:endParaRPr lang="en-US" sz="1000" dirty="0"/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20" y="1581912"/>
            <a:ext cx="201168" cy="201168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548640" y="1554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D"/>
                </a:solidFill>
              </a:rPr>
              <a:t>Zero code duplication</a:t>
            </a:r>
            <a:endParaRPr lang="en-US" sz="100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20" y="1901952"/>
            <a:ext cx="201168" cy="201168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548640" y="18745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D"/>
                </a:solidFill>
              </a:rPr>
              <a:t>Multi-device data-driven runs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078D4">
              <a:alpha val="15000"/>
            </a:srgbClr>
          </a:solidFill>
          <a:ln w="12700">
            <a:solidFill>
              <a:srgbClr val="0078D4">
                <a:alpha val="1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C2FF"/>
                </a:solidFill>
              </a:rPr>
              <a:t>EVOLUTION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Old vs New Framework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108960" y="1051560"/>
            <a:ext cx="2651760" cy="365760"/>
          </a:xfrm>
          <a:prstGeom prst="rect">
            <a:avLst/>
          </a:prstGeom>
          <a:solidFill>
            <a:srgbClr val="FF5252"/>
          </a:solidFill>
          <a:ln w="12700">
            <a:solidFill>
              <a:srgbClr val="FF52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0" y="1051560"/>
            <a:ext cx="2834640" cy="365760"/>
          </a:xfrm>
          <a:prstGeom prst="rect">
            <a:avLst/>
          </a:prstGeom>
          <a:solidFill>
            <a:srgbClr val="006E3C"/>
          </a:solidFill>
          <a:ln w="12700">
            <a:solidFill>
              <a:srgbClr val="006E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08960" y="107899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❌  OLD APPROACH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0" y="1078992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✅  NEW FRAMEWORK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463040"/>
            <a:ext cx="8595360" cy="438912"/>
          </a:xfrm>
          <a:prstGeom prst="rect">
            <a:avLst/>
          </a:prstGeom>
          <a:solidFill>
            <a:srgbClr val="152232"/>
          </a:solidFill>
          <a:ln w="12700">
            <a:solidFill>
              <a:srgbClr val="1522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5270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D"/>
                </a:solidFill>
              </a:rPr>
              <a:t>Platform Support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08960" y="15270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5252"/>
                </a:solidFill>
              </a:rPr>
              <a:t>Single Platform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0" y="152704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E676"/>
                </a:solidFill>
              </a:rPr>
              <a:t>Multi-Platform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938528"/>
            <a:ext cx="8595360" cy="438912"/>
          </a:xfrm>
          <a:prstGeom prst="rect">
            <a:avLst/>
          </a:prstGeom>
          <a:solidFill>
            <a:srgbClr val="111B27"/>
          </a:solidFill>
          <a:ln w="12700">
            <a:solidFill>
              <a:srgbClr val="111B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00253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D"/>
                </a:solidFill>
              </a:rPr>
              <a:t>Driver Handling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108960" y="200253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5252"/>
                </a:solidFill>
              </a:rPr>
              <a:t>Manual Setup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00253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E676"/>
                </a:solidFill>
              </a:rPr>
              <a:t>WebDriverManager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" y="2414016"/>
            <a:ext cx="8595360" cy="438912"/>
          </a:xfrm>
          <a:prstGeom prst="rect">
            <a:avLst/>
          </a:prstGeom>
          <a:solidFill>
            <a:srgbClr val="152232"/>
          </a:solidFill>
          <a:ln w="12700">
            <a:solidFill>
              <a:srgbClr val="1522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47802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D"/>
                </a:solidFill>
              </a:rPr>
              <a:t>Test Execution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108960" y="247802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5252"/>
                </a:solidFill>
              </a:rPr>
              <a:t>Static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0" y="247802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E676"/>
                </a:solidFill>
              </a:rPr>
              <a:t>Data-Driven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2889504"/>
            <a:ext cx="8595360" cy="438912"/>
          </a:xfrm>
          <a:prstGeom prst="rect">
            <a:avLst/>
          </a:prstGeom>
          <a:solidFill>
            <a:srgbClr val="111B27"/>
          </a:solidFill>
          <a:ln w="12700">
            <a:solidFill>
              <a:srgbClr val="111B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953512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D"/>
                </a:solidFill>
              </a:rPr>
              <a:t>Scalability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108960" y="29535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5252"/>
                </a:solidFill>
              </a:rPr>
              <a:t>Low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943600" y="295351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E676"/>
                </a:solidFill>
              </a:rPr>
              <a:t>High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4320" y="3364992"/>
            <a:ext cx="8595360" cy="438912"/>
          </a:xfrm>
          <a:prstGeom prst="rect">
            <a:avLst/>
          </a:prstGeom>
          <a:solidFill>
            <a:srgbClr val="152232"/>
          </a:solidFill>
          <a:ln w="12700">
            <a:solidFill>
              <a:srgbClr val="1522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42900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D"/>
                </a:solidFill>
              </a:rPr>
              <a:t>Reporting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108960" y="342900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5252"/>
                </a:solidFill>
              </a:rPr>
              <a:t>Basic Logs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0" y="34290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E676"/>
                </a:solidFill>
              </a:rPr>
              <a:t>Extent Reports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74320" y="3840480"/>
            <a:ext cx="8595360" cy="438912"/>
          </a:xfrm>
          <a:prstGeom prst="rect">
            <a:avLst/>
          </a:prstGeom>
          <a:solidFill>
            <a:srgbClr val="111B27"/>
          </a:solidFill>
          <a:ln w="12700">
            <a:solidFill>
              <a:srgbClr val="111B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390448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D"/>
                </a:solidFill>
              </a:rPr>
              <a:t>Code Reusability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108960" y="390448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5252"/>
                </a:solidFill>
              </a:rPr>
              <a:t>Low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0" y="390448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E676"/>
                </a:solidFill>
              </a:rPr>
              <a:t>High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74320" y="4315968"/>
            <a:ext cx="8595360" cy="438912"/>
          </a:xfrm>
          <a:prstGeom prst="rect">
            <a:avLst/>
          </a:prstGeom>
          <a:solidFill>
            <a:srgbClr val="152232"/>
          </a:solidFill>
          <a:ln w="12700">
            <a:solidFill>
              <a:srgbClr val="15223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1480" y="43799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D"/>
                </a:solidFill>
              </a:rPr>
              <a:t>Device Coverage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1089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smtClean="0">
                <a:solidFill>
                  <a:srgbClr val="FF5252"/>
                </a:solidFill>
              </a:rPr>
              <a:t>Web, Android, iOS, TV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943600" y="437997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smtClean="0">
                <a:solidFill>
                  <a:srgbClr val="00E676"/>
                </a:solidFill>
              </a:rPr>
              <a:t>Web, Android, iOS, TV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078D4">
              <a:alpha val="15000"/>
            </a:srgbClr>
          </a:solidFill>
          <a:ln w="12700">
            <a:solidFill>
              <a:srgbClr val="0078D4">
                <a:alpha val="1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C2FF"/>
                </a:solidFill>
              </a:rPr>
              <a:t>TECHNOLOGIES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Core Tech Stack &amp; Optimizations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651760" cy="1554480"/>
          </a:xfrm>
          <a:prstGeom prst="rect">
            <a:avLst/>
          </a:prstGeom>
          <a:solidFill>
            <a:srgbClr val="152232"/>
          </a:solidFill>
          <a:ln w="12700">
            <a:solidFill>
              <a:srgbClr val="FF9800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43000"/>
            <a:ext cx="2651760" cy="54864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25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Java 17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5"/>
                </a:solidFill>
              </a:rPr>
              <a:t>Core Language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109728" cy="109728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103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9800"/>
                </a:solidFill>
              </a:rPr>
              <a:t>Production Ready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0" y="1143000"/>
            <a:ext cx="2651760" cy="1554480"/>
          </a:xfrm>
          <a:prstGeom prst="rect">
            <a:avLst/>
          </a:prstGeom>
          <a:solidFill>
            <a:srgbClr val="152232"/>
          </a:solidFill>
          <a:ln w="12700">
            <a:solidFill>
              <a:srgbClr val="43A8E6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143000"/>
            <a:ext cx="2651760" cy="54864"/>
          </a:xfrm>
          <a:prstGeom prst="rect">
            <a:avLst/>
          </a:prstGeom>
          <a:solidFill>
            <a:srgbClr val="43A8E6"/>
          </a:solidFill>
          <a:ln w="12700">
            <a:solidFill>
              <a:srgbClr val="43A8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325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Selenium 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37560" y="1737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5"/>
                </a:solidFill>
              </a:rPr>
              <a:t>Web Automation (BOM)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37560" y="2148840"/>
            <a:ext cx="109728" cy="109728"/>
          </a:xfrm>
          <a:prstGeom prst="ellipse">
            <a:avLst/>
          </a:prstGeom>
          <a:solidFill>
            <a:srgbClr val="43A8E6"/>
          </a:solidFill>
          <a:ln w="12700">
            <a:solidFill>
              <a:srgbClr val="43A8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0440" y="2103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3A8E6"/>
                </a:solidFill>
              </a:rPr>
              <a:t>Production Ready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080760" y="1143000"/>
            <a:ext cx="2651760" cy="1554480"/>
          </a:xfrm>
          <a:prstGeom prst="rect">
            <a:avLst/>
          </a:prstGeom>
          <a:solidFill>
            <a:srgbClr val="152232"/>
          </a:solidFill>
          <a:ln w="12700">
            <a:solidFill>
              <a:srgbClr val="00E676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1143000"/>
            <a:ext cx="265176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1325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Appium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0" y="1737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5"/>
                </a:solidFill>
              </a:rPr>
              <a:t>Mobile Automation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2148840"/>
            <a:ext cx="109728" cy="109728"/>
          </a:xfrm>
          <a:prstGeom prst="ellipse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2103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</a:rPr>
              <a:t>Production Ready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0040" y="2971800"/>
            <a:ext cx="2651760" cy="1554480"/>
          </a:xfrm>
          <a:prstGeom prst="rect">
            <a:avLst/>
          </a:prstGeom>
          <a:solidFill>
            <a:srgbClr val="152232"/>
          </a:solidFill>
          <a:ln w="12700">
            <a:solidFill>
              <a:srgbClr val="FF7043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2971800"/>
            <a:ext cx="2651760" cy="54864"/>
          </a:xfrm>
          <a:prstGeom prst="rect">
            <a:avLst/>
          </a:prstGeom>
          <a:solidFill>
            <a:srgbClr val="FF7043"/>
          </a:solidFill>
          <a:ln w="12700">
            <a:solidFill>
              <a:srgbClr val="FF70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1546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TestNG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5720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5"/>
                </a:solidFill>
              </a:rPr>
              <a:t>Execution Engine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109728" cy="109728"/>
          </a:xfrm>
          <a:prstGeom prst="ellipse">
            <a:avLst/>
          </a:prstGeom>
          <a:solidFill>
            <a:srgbClr val="FF7043"/>
          </a:solidFill>
          <a:ln w="12700">
            <a:solidFill>
              <a:srgbClr val="FF704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3931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7043"/>
                </a:solidFill>
              </a:rPr>
              <a:t>Production Ready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200400" y="2971800"/>
            <a:ext cx="2651760" cy="1554480"/>
          </a:xfrm>
          <a:prstGeom prst="rect">
            <a:avLst/>
          </a:prstGeom>
          <a:solidFill>
            <a:srgbClr val="152232"/>
          </a:solidFill>
          <a:ln w="12700">
            <a:solidFill>
              <a:srgbClr val="00C2FF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0" y="2971800"/>
            <a:ext cx="2651760" cy="54864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31546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WebDriverManager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33756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5"/>
                </a:solidFill>
              </a:rPr>
              <a:t>Auto Driver Resolution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337560" y="3977640"/>
            <a:ext cx="109728" cy="109728"/>
          </a:xfrm>
          <a:prstGeom prst="ellipse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520440" y="3931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2FF"/>
                </a:solidFill>
              </a:rPr>
              <a:t>Production Ready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80760" y="2971800"/>
            <a:ext cx="2651760" cy="1554480"/>
          </a:xfrm>
          <a:prstGeom prst="rect">
            <a:avLst/>
          </a:prstGeom>
          <a:solidFill>
            <a:srgbClr val="152232"/>
          </a:solidFill>
          <a:ln w="12700">
            <a:solidFill>
              <a:srgbClr val="9C27B0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080760" y="2971800"/>
            <a:ext cx="2651760" cy="54864"/>
          </a:xfrm>
          <a:prstGeom prst="rect">
            <a:avLst/>
          </a:prstGeom>
          <a:solidFill>
            <a:srgbClr val="9C27B0"/>
          </a:solidFill>
          <a:ln w="12700">
            <a:solidFill>
              <a:srgbClr val="9C27B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0" y="31546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Extent Reports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21792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5"/>
                </a:solidFill>
              </a:rPr>
              <a:t>Reporting &amp; Visibility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17920" y="3977640"/>
            <a:ext cx="109728" cy="109728"/>
          </a:xfrm>
          <a:prstGeom prst="ellipse">
            <a:avLst/>
          </a:prstGeom>
          <a:solidFill>
            <a:srgbClr val="9C27B0"/>
          </a:solidFill>
          <a:ln w="12700">
            <a:solidFill>
              <a:srgbClr val="9C27B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0" y="3931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27B0"/>
                </a:solidFill>
              </a:rPr>
              <a:t>Production Ready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078D4">
              <a:alpha val="15000"/>
            </a:srgbClr>
          </a:solidFill>
          <a:ln w="12700">
            <a:solidFill>
              <a:srgbClr val="0078D4">
                <a:alpha val="1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C2FF"/>
                </a:solidFill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Framework Layer Design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7863840" cy="713232"/>
          </a:xfrm>
          <a:prstGeom prst="rect">
            <a:avLst/>
          </a:prstGeom>
          <a:solidFill>
            <a:srgbClr val="152232"/>
          </a:solidFill>
          <a:ln w="12700">
            <a:solidFill>
              <a:srgbClr val="00C2FF">
                <a:alpha val="7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188720"/>
            <a:ext cx="54864" cy="713232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26187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🧪  TEST LAYER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153619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5"/>
                </a:solidFill>
              </a:rPr>
              <a:t>AT_Scripts — Web, Android, iOS, Browser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901952"/>
            <a:ext cx="0" cy="182880"/>
          </a:xfrm>
          <a:prstGeom prst="line">
            <a:avLst/>
          </a:prstGeom>
          <a:noFill/>
          <a:ln w="12700">
            <a:solidFill>
              <a:srgbClr val="8BAFC5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1371600" y="2084832"/>
            <a:ext cx="6400800" cy="713232"/>
          </a:xfrm>
          <a:prstGeom prst="rect">
            <a:avLst/>
          </a:prstGeom>
          <a:solidFill>
            <a:srgbClr val="152232"/>
          </a:solidFill>
          <a:ln w="12700">
            <a:solidFill>
              <a:srgbClr val="00E676">
                <a:alpha val="7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371600" y="2084832"/>
            <a:ext cx="54864" cy="713232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215798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📊  DATA LAYER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54480" y="243230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5"/>
                </a:solidFill>
              </a:rPr>
              <a:t>DataProviders — Device configs, Environments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2798064"/>
            <a:ext cx="0" cy="182880"/>
          </a:xfrm>
          <a:prstGeom prst="line">
            <a:avLst/>
          </a:prstGeom>
          <a:noFill/>
          <a:ln w="12700">
            <a:solidFill>
              <a:srgbClr val="8BAFC5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103120" y="2980944"/>
            <a:ext cx="4937760" cy="713232"/>
          </a:xfrm>
          <a:prstGeom prst="rect">
            <a:avLst/>
          </a:prstGeom>
          <a:solidFill>
            <a:srgbClr val="152232"/>
          </a:solidFill>
          <a:ln w="12700">
            <a:solidFill>
              <a:srgbClr val="FF9800">
                <a:alpha val="7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103120" y="2980944"/>
            <a:ext cx="54864" cy="713232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0" y="30540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🔧  UTILITY LAYER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332841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5"/>
                </a:solidFill>
              </a:rPr>
              <a:t>Screenshots · Reporting · Helpers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3694176"/>
            <a:ext cx="0" cy="182880"/>
          </a:xfrm>
          <a:prstGeom prst="line">
            <a:avLst/>
          </a:prstGeom>
          <a:noFill/>
          <a:ln w="12700">
            <a:solidFill>
              <a:srgbClr val="8BAFC5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743200" y="3877056"/>
            <a:ext cx="3657600" cy="713232"/>
          </a:xfrm>
          <a:prstGeom prst="rect">
            <a:avLst/>
          </a:prstGeom>
          <a:solidFill>
            <a:srgbClr val="152232"/>
          </a:solidFill>
          <a:ln w="12700">
            <a:solidFill>
              <a:srgbClr val="9C27B0">
                <a:alpha val="7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0" y="3877056"/>
            <a:ext cx="54864" cy="713232"/>
          </a:xfrm>
          <a:prstGeom prst="rect">
            <a:avLst/>
          </a:prstGeom>
          <a:solidFill>
            <a:srgbClr val="9C27B0"/>
          </a:solidFill>
          <a:ln w="12700">
            <a:solidFill>
              <a:srgbClr val="9C27B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26080" y="39502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🚀  RUNNER LAYER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926080" y="422452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5"/>
                </a:solidFill>
              </a:rPr>
              <a:t>TestNG XML · Cross-browser runner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078D4">
              <a:alpha val="15000"/>
            </a:srgbClr>
          </a:solidFill>
          <a:ln w="12700">
            <a:solidFill>
              <a:srgbClr val="0078D4">
                <a:alpha val="1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C2FF"/>
                </a:solidFill>
              </a:rPr>
              <a:t>OPTIMIZATIONS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 Key Engineering Decisions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1920240" cy="1463040"/>
          </a:xfrm>
          <a:prstGeom prst="rect">
            <a:avLst/>
          </a:prstGeom>
          <a:solidFill>
            <a:srgbClr val="152232"/>
          </a:solidFill>
          <a:ln w="12700">
            <a:solidFill>
              <a:srgbClr val="0078D4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8D4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84048" y="17556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Selenium BOM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" y="2148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5"/>
                </a:solidFill>
              </a:rPr>
              <a:t>Avoids version conflicts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3160" y="1188720"/>
            <a:ext cx="1920240" cy="1463040"/>
          </a:xfrm>
          <a:prstGeom prst="rect">
            <a:avLst/>
          </a:prstGeom>
          <a:solidFill>
            <a:srgbClr val="152232"/>
          </a:solidFill>
          <a:ln w="12700">
            <a:solidFill>
              <a:srgbClr val="0078D4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1460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8D4"/>
                </a:solidFill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532888" y="17556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WebDriverManager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32888" y="2148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5"/>
                </a:solidFill>
              </a:rPr>
              <a:t>Auto driver resolution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1188720"/>
            <a:ext cx="1920240" cy="1463040"/>
          </a:xfrm>
          <a:prstGeom prst="rect">
            <a:avLst/>
          </a:prstGeom>
          <a:solidFill>
            <a:srgbClr val="152232"/>
          </a:solidFill>
          <a:ln w="12700">
            <a:solidFill>
              <a:srgbClr val="0078D4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6344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8D4"/>
                </a:solidFill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81728" y="17556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Data-Driven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81728" y="2148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5"/>
                </a:solidFill>
              </a:rPr>
              <a:t>Multi-device DataProviders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20840" y="1188720"/>
            <a:ext cx="1920240" cy="1463040"/>
          </a:xfrm>
          <a:prstGeom prst="rect">
            <a:avLst/>
          </a:prstGeom>
          <a:solidFill>
            <a:srgbClr val="152232"/>
          </a:solidFill>
          <a:ln w="12700">
            <a:solidFill>
              <a:srgbClr val="0078D4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1228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8D4"/>
                </a:solidFill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30568" y="17556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Modular Design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30568" y="2148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5"/>
                </a:solidFill>
              </a:rPr>
              <a:t>Separate classes per platform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926080"/>
            <a:ext cx="1920240" cy="1463040"/>
          </a:xfrm>
          <a:prstGeom prst="rect">
            <a:avLst/>
          </a:prstGeom>
          <a:solidFill>
            <a:srgbClr val="152232"/>
          </a:solidFill>
          <a:ln w="12700">
            <a:solidFill>
              <a:srgbClr val="0078D4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5760" y="3017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8D4"/>
                </a:solidFill>
              </a:rPr>
              <a:t>05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84048" y="3493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Cross-Platform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84048" y="3886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5"/>
                </a:solidFill>
              </a:rPr>
              <a:t>Desktop · Mobile · TV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423160" y="2926080"/>
            <a:ext cx="1920240" cy="1463040"/>
          </a:xfrm>
          <a:prstGeom prst="rect">
            <a:avLst/>
          </a:prstGeom>
          <a:solidFill>
            <a:srgbClr val="152232"/>
          </a:solidFill>
          <a:ln w="12700">
            <a:solidFill>
              <a:srgbClr val="0078D4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514600" y="3017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8D4"/>
                </a:solidFill>
              </a:rPr>
              <a:t>06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532888" y="3493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Extent Reports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532888" y="3886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5"/>
                </a:solidFill>
              </a:rPr>
              <a:t>Debugging visibility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2926080"/>
            <a:ext cx="1920240" cy="1463040"/>
          </a:xfrm>
          <a:prstGeom prst="rect">
            <a:avLst/>
          </a:prstGeom>
          <a:solidFill>
            <a:srgbClr val="152232"/>
          </a:solidFill>
          <a:ln w="12700">
            <a:solidFill>
              <a:srgbClr val="0078D4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663440" y="3017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8D4"/>
                </a:solidFill>
              </a:rPr>
              <a:t>07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681728" y="3493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Screenshot Utility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681728" y="3886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5"/>
                </a:solidFill>
              </a:rPr>
              <a:t>Capture on failure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078D4">
              <a:alpha val="15000"/>
            </a:srgbClr>
          </a:solidFill>
          <a:ln w="12700">
            <a:solidFill>
              <a:srgbClr val="0078D4">
                <a:alpha val="1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C2FF"/>
                </a:solidFill>
              </a:rPr>
              <a:t>SETUP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Method of Procedure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411480" cy="411480"/>
          </a:xfrm>
          <a:prstGeom prst="ellipse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43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097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Clone Repository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498239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00C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</a:t>
            </a:r>
            <a:r>
              <a:rPr lang="en-US" sz="1000" dirty="0">
                <a:solidFill>
                  <a:srgbClr val="00C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https://github.com/pradeepkumarqwert/DF_Automation_Testing_Sanity.git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011680"/>
            <a:ext cx="411480" cy="411480"/>
          </a:xfrm>
          <a:prstGeom prst="ellipse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011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Open in IntelliJ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2219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 Maven Project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880360"/>
            <a:ext cx="411480" cy="411480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880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Install Deps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309067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9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mvn clean install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749040"/>
            <a:ext cx="411480" cy="411480"/>
          </a:xfrm>
          <a:prstGeom prst="ellipse">
            <a:avLst/>
          </a:prstGeom>
          <a:solidFill>
            <a:srgbClr val="9C27B0"/>
          </a:solidFill>
          <a:ln w="12700">
            <a:solidFill>
              <a:srgbClr val="9C27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749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3703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Configure TestNG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" y="39593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27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 testng.xml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1143000"/>
            <a:ext cx="411480" cy="411480"/>
          </a:xfrm>
          <a:prstGeom prst="ellipse">
            <a:avLst/>
          </a:prstGeom>
          <a:solidFill>
            <a:srgbClr val="FF5252"/>
          </a:solidFill>
          <a:ln w="12700">
            <a:solidFill>
              <a:srgbClr val="FF52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1143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12080" y="1097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Setup Devices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12080" y="135331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Appium + Emulator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201168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2011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212080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 Tests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12080" y="22219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smtClean="0">
                <a:solidFill>
                  <a:srgbClr val="0078D4"/>
                </a:solidFill>
                <a:latin typeface="Consolas" pitchFamily="34" charset="0"/>
              </a:rPr>
              <a:t>Via Test Runner in test/java path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11480" cy="411480"/>
          </a:xfrm>
          <a:prstGeom prst="ellipse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2880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212080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View Reports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212080" y="309067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Extent Report HTML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078D4">
              <a:alpha val="15000"/>
            </a:srgbClr>
          </a:solidFill>
          <a:ln w="12700">
            <a:solidFill>
              <a:srgbClr val="0078D4">
                <a:alpha val="15000"/>
              </a:srgbClr>
            </a:solidFill>
            <a:prstDash val="solid"/>
          </a:ln>
        </p:spPr>
      </p:sp>
      <p:sp>
        <p:nvSpPr>
          <p:cNvPr id="34" name="Rectangle 1"/>
          <p:cNvSpPr>
            <a:spLocks noChangeArrowheads="1"/>
          </p:cNvSpPr>
          <p:nvPr/>
        </p:nvSpPr>
        <p:spPr bwMode="auto">
          <a:xfrm>
            <a:off x="4715220" y="398185"/>
            <a:ext cx="4285148" cy="452431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All</a:t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├── Web</a:t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├── Mobile</a:t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│    ├── </a:t>
            </a:r>
            <a:r>
              <a:rPr kumimoji="0" lang="en-US" altLang="en-US" sz="1600" b="1" u="none" strike="noStrike" cap="none" normalizeH="0" baseline="0" dirty="0" err="1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Android_Mobile</a:t>
            </a: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│    │    ├── </a:t>
            </a:r>
            <a:r>
              <a:rPr kumimoji="0" lang="en-US" altLang="en-US" sz="1600" b="1" u="none" strike="noStrike" cap="none" normalizeH="0" baseline="0" dirty="0" err="1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Android_Mobile_App</a:t>
            </a: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│    │    └── </a:t>
            </a:r>
            <a:r>
              <a:rPr kumimoji="0" lang="en-US" altLang="en-US" sz="1600" b="1" u="none" strike="noStrike" cap="none" normalizeH="0" baseline="0" dirty="0" err="1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Android_Mobile_Browser</a:t>
            </a: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│    └── </a:t>
            </a:r>
            <a:r>
              <a:rPr kumimoji="0" lang="en-US" altLang="en-US" sz="1600" b="1" u="none" strike="noStrike" cap="none" normalizeH="0" baseline="0" dirty="0" err="1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iOS_Mobile</a:t>
            </a: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│         ├── </a:t>
            </a:r>
            <a:r>
              <a:rPr kumimoji="0" lang="en-US" altLang="en-US" sz="1600" b="1" u="none" strike="noStrike" cap="none" normalizeH="0" baseline="0" dirty="0" err="1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iOS_Mobile_App</a:t>
            </a: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│         └── </a:t>
            </a:r>
            <a:r>
              <a:rPr kumimoji="0" lang="en-US" altLang="en-US" sz="1600" b="1" u="none" strike="noStrike" cap="none" normalizeH="0" baseline="0" dirty="0" err="1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iOS_Mobile_Browser</a:t>
            </a: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├── Tablet</a:t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│    ├── </a:t>
            </a:r>
            <a:r>
              <a:rPr kumimoji="0" lang="en-US" altLang="en-US" sz="1600" b="1" u="none" strike="noStrike" cap="none" normalizeH="0" baseline="0" dirty="0" err="1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Android_Tablet</a:t>
            </a: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│    │    ├── </a:t>
            </a:r>
            <a:r>
              <a:rPr kumimoji="0" lang="en-US" altLang="en-US" sz="1600" b="1" u="none" strike="noStrike" cap="none" normalizeH="0" baseline="0" dirty="0" err="1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Android_Tablet_App</a:t>
            </a: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│    │    └── </a:t>
            </a:r>
            <a:r>
              <a:rPr kumimoji="0" lang="en-US" altLang="en-US" sz="1600" b="1" u="none" strike="noStrike" cap="none" normalizeH="0" baseline="0" dirty="0" err="1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Android_Tablet_Browser</a:t>
            </a: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│    └── </a:t>
            </a:r>
            <a:r>
              <a:rPr kumimoji="0" lang="en-US" altLang="en-US" sz="1600" b="1" u="none" strike="noStrike" cap="none" normalizeH="0" baseline="0" dirty="0" err="1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iOS_iPad</a:t>
            </a: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│         ├── </a:t>
            </a:r>
            <a:r>
              <a:rPr kumimoji="0" lang="en-US" altLang="en-US" sz="1600" b="1" u="none" strike="noStrike" cap="none" normalizeH="0" baseline="0" dirty="0" err="1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iOS_iPad_App</a:t>
            </a: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│         └── </a:t>
            </a:r>
            <a:r>
              <a:rPr kumimoji="0" lang="en-US" altLang="en-US" sz="1600" b="1" u="none" strike="noStrike" cap="none" normalizeH="0" baseline="0" dirty="0" err="1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iOS_iPad_Browser</a:t>
            </a: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└── TV</a:t>
            </a:r>
            <a:b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1600" b="1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└── </a:t>
            </a:r>
            <a:r>
              <a:rPr kumimoji="0" lang="en-US" altLang="en-US" sz="1600" b="1" u="none" strike="noStrike" cap="none" normalizeH="0" baseline="0" dirty="0" err="1" smtClean="0">
                <a:ln>
                  <a:noFill/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AndroidTV</a:t>
            </a:r>
            <a:endParaRPr kumimoji="0" lang="en-US" altLang="en-US" sz="1600" b="1" u="none" strike="noStrike" cap="none" normalizeH="0" baseline="0" dirty="0" smtClean="0">
              <a:ln>
                <a:noFill/>
              </a:ln>
              <a:solidFill>
                <a:schemeClr val="accent6">
                  <a:lumMod val="40000"/>
                  <a:lumOff val="6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86439" y="2434728"/>
            <a:ext cx="31271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latin typeface="Arial Black" panose="020B0A04020102020204" pitchFamily="34" charset="0"/>
              </a:rPr>
              <a:t>GROUP SEGREGATION:</a:t>
            </a:r>
            <a:endParaRPr lang="en-IN" b="1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769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078D4">
              <a:alpha val="15000"/>
            </a:srgbClr>
          </a:solidFill>
          <a:ln w="12700">
            <a:solidFill>
              <a:srgbClr val="0078D4">
                <a:alpha val="1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C2FF"/>
                </a:solidFill>
              </a:rPr>
              <a:t>KEY HIGHLIGHTS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Sets This Framework Apart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594360"/>
          </a:xfrm>
          <a:prstGeom prst="rect">
            <a:avLst/>
          </a:prstGeom>
          <a:solidFill>
            <a:srgbClr val="152232"/>
          </a:solidFill>
          <a:ln w="12700">
            <a:solidFill>
              <a:srgbClr val="1522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88720"/>
            <a:ext cx="64008" cy="594360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4416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29844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</a:rPr>
              <a:t>"Platform-agnostic — one codebase runs everywhere"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65760" y="1920240"/>
            <a:ext cx="8412480" cy="594360"/>
          </a:xfrm>
          <a:prstGeom prst="rect">
            <a:avLst/>
          </a:prstGeom>
          <a:solidFill>
            <a:srgbClr val="111B27"/>
          </a:solidFill>
          <a:ln w="12700">
            <a:solidFill>
              <a:srgbClr val="111B2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5760" y="1920240"/>
            <a:ext cx="64008" cy="594360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7568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02996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</a:rPr>
              <a:t>"Centralized execution logic eliminates duplication"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65760" y="2651760"/>
            <a:ext cx="8412480" cy="594360"/>
          </a:xfrm>
          <a:prstGeom prst="rect">
            <a:avLst/>
          </a:prstGeom>
          <a:solidFill>
            <a:srgbClr val="152232"/>
          </a:solidFill>
          <a:ln w="12700">
            <a:solidFill>
              <a:srgbClr val="15223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5760" y="2651760"/>
            <a:ext cx="64008" cy="594360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0720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60120" y="276148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</a:rPr>
              <a:t>"DataProviders enable true multi-device test runs"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365760" y="3383280"/>
            <a:ext cx="8412480" cy="594360"/>
          </a:xfrm>
          <a:prstGeom prst="rect">
            <a:avLst/>
          </a:prstGeom>
          <a:solidFill>
            <a:srgbClr val="111B27"/>
          </a:solidFill>
          <a:ln w="12700">
            <a:solidFill>
              <a:srgbClr val="111B27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365760" y="3383280"/>
            <a:ext cx="64008" cy="594360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38728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60120" y="349300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</a:rPr>
              <a:t>"WebDriverManager removes all manual driver overhead"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365760" y="4114800"/>
            <a:ext cx="8412480" cy="594360"/>
          </a:xfrm>
          <a:prstGeom prst="rect">
            <a:avLst/>
          </a:prstGeom>
          <a:solidFill>
            <a:srgbClr val="152232"/>
          </a:solidFill>
          <a:ln w="12700">
            <a:solidFill>
              <a:srgbClr val="152232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65760" y="4114800"/>
            <a:ext cx="64008" cy="594360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70248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60120" y="422452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</a:rPr>
              <a:t>"Supports real devices, emulators &amp; browsers equally"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078D4">
              <a:alpha val="15000"/>
            </a:srgbClr>
          </a:solidFill>
          <a:ln w="12700">
            <a:solidFill>
              <a:srgbClr val="0078D4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0" y="457200"/>
            <a:ext cx="4572000" cy="4572000"/>
          </a:xfrm>
          <a:prstGeom prst="ellipse">
            <a:avLst/>
          </a:prstGeom>
          <a:solidFill>
            <a:srgbClr val="0078D4">
              <a:alpha val="12000"/>
            </a:srgbClr>
          </a:solidFill>
          <a:ln w="12700">
            <a:solidFill>
              <a:srgbClr val="0078D4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FRAMEWORK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kern="0" spc="200" dirty="0">
                <a:solidFill>
                  <a:srgbClr val="00C2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INFINITE POSSIBILITIES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AFC5"/>
                </a:solidFill>
              </a:rPr>
              <a:t>Web  ·  Android  ·  iOS  ·  Tablet  ·  Smart TV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32004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C2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5+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371600" y="3749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AFC5"/>
                </a:solidFill>
              </a:rPr>
              <a:t>Platforms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0" y="32004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C2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40480" y="3749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AFC5"/>
                </a:solidFill>
              </a:rPr>
              <a:t>Duplication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32004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C2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∞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309360" y="3749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AFC5"/>
                </a:solidFill>
              </a:rPr>
              <a:t>Scalability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0" y="478231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Built for Scale · Built for Speed · Built for the Future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14</TotalTime>
  <Words>427</Words>
  <Application>Microsoft Office PowerPoint</Application>
  <PresentationFormat>On-screen Show (16:9)</PresentationFormat>
  <Paragraphs>160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Arial Black</vt:lpstr>
      <vt:lpstr>Calibri</vt:lpstr>
      <vt:lpstr>Century Gothic</vt:lpstr>
      <vt:lpstr>Consolas</vt:lpstr>
      <vt:lpstr>Times New Roman</vt:lpstr>
      <vt:lpstr>Vapor Trail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Unified Automation Framework</dc:title>
  <dc:subject>PptxGenJS Presentation</dc:subject>
  <dc:creator>PptxGenJS</dc:creator>
  <cp:lastModifiedBy>User</cp:lastModifiedBy>
  <cp:revision>4</cp:revision>
  <dcterms:created xsi:type="dcterms:W3CDTF">2026-05-22T09:46:59Z</dcterms:created>
  <dcterms:modified xsi:type="dcterms:W3CDTF">2026-05-22T10:41:23Z</dcterms:modified>
</cp:coreProperties>
</file>