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4992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352554"/>
            <a:ext cx="7086600" cy="1368822"/>
          </a:xfrm>
        </p:spPr>
        <p:txBody>
          <a:bodyPr anchor="b">
            <a:normAutofit/>
          </a:bodyPr>
          <a:lstStyle>
            <a:lvl1pPr algn="l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724151"/>
            <a:ext cx="7086600" cy="514350"/>
          </a:xfrm>
        </p:spPr>
        <p:txBody>
          <a:bodyPr>
            <a:norm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3235746"/>
            <a:ext cx="2183130" cy="280982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3242884"/>
            <a:ext cx="48006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073150"/>
            <a:ext cx="2057400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09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61400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65150"/>
            <a:ext cx="8115299" cy="2101451"/>
          </a:xfrm>
        </p:spPr>
        <p:txBody>
          <a:bodyPr anchor="b">
            <a:normAutofit/>
          </a:bodyPr>
          <a:lstStyle>
            <a:lvl1pPr algn="r">
              <a:defRPr sz="3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2731294"/>
            <a:ext cx="7867650" cy="716756"/>
          </a:xfrm>
        </p:spPr>
        <p:txBody>
          <a:bodyPr>
            <a:normAutofit/>
          </a:bodyPr>
          <a:lstStyle>
            <a:lvl1pPr marL="0" indent="0" algn="r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1"/>
            <a:ext cx="5243619" cy="27304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267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1645920"/>
            <a:ext cx="4000500" cy="30180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45920"/>
            <a:ext cx="4000500" cy="30180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9873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571500"/>
            <a:ext cx="6457950" cy="9715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7" y="1637852"/>
            <a:ext cx="3809993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2349500"/>
            <a:ext cx="3983831" cy="23145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37852"/>
            <a:ext cx="3829050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49500"/>
            <a:ext cx="4000500" cy="23145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160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13214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49111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308610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560070"/>
            <a:ext cx="4882964" cy="410394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308610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032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515493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563431"/>
            <a:ext cx="2733722" cy="410058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515493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58931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3" y="3523021"/>
            <a:ext cx="8116526" cy="61451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706080"/>
            <a:ext cx="8116380" cy="260862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4137537"/>
            <a:ext cx="8115300" cy="526477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0033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2101850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850"/>
            <a:ext cx="7597887" cy="749300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6056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565150"/>
            <a:ext cx="7613650" cy="1953371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2524168"/>
            <a:ext cx="7194552" cy="33333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2969897"/>
            <a:ext cx="7613650" cy="509903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57188" y="70008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02596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606503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1" y="843526"/>
            <a:ext cx="7609640" cy="188387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237"/>
            <a:ext cx="7608491" cy="74991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4163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163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0244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571500"/>
            <a:ext cx="6457949" cy="9779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51560"/>
            <a:ext cx="2592324" cy="46299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165099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178050"/>
            <a:ext cx="2592324" cy="24859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164464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52668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1" y="571500"/>
            <a:ext cx="6457949" cy="9715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3" y="3143250"/>
            <a:ext cx="2588687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3" y="1771650"/>
            <a:ext cx="2588687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3" y="3655323"/>
            <a:ext cx="2588687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8" y="3143250"/>
            <a:ext cx="2586701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1771650"/>
            <a:ext cx="2586702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699" y="3655323"/>
            <a:ext cx="2586701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3143250"/>
            <a:ext cx="2592352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1" y="1771650"/>
            <a:ext cx="258590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3655321"/>
            <a:ext cx="2589334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88424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1645920"/>
            <a:ext cx="8115300" cy="301809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66478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558800"/>
            <a:ext cx="1543050" cy="292735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558800"/>
            <a:ext cx="6153151" cy="29273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4956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0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33061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508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573280"/>
            <a:ext cx="6457950" cy="969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45920"/>
            <a:ext cx="8115300" cy="301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5984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</p:sldLayoutIdLst>
  <p:hf sldNum="0" hdr="0" ftr="0" dt="0"/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3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78D4">
              <a:alpha val="15000"/>
            </a:srgbClr>
          </a:solidFill>
          <a:ln w="12700">
            <a:solidFill>
              <a:srgbClr val="0078D4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70832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434840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4434840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4434840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4434840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4434840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4434840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UNIFIED AUTOMATION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300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FRAMEWORK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BAFC5"/>
                </a:solidFill>
              </a:rPr>
              <a:t>Web · Mobile · Tablet · Smart TV — One Framework to Rule Them All</a:t>
            </a:r>
            <a:endParaRPr lang="en-US" sz="14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92608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88720" y="3474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5"/>
                </a:solidFill>
              </a:rPr>
              <a:t>Web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292608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17520" y="3474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5"/>
                </a:solidFill>
              </a:rPr>
              <a:t>Android &amp; iOS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9260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3474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5"/>
                </a:solidFill>
              </a:rPr>
              <a:t>Tablet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9260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75120" y="3474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5"/>
                </a:solidFill>
              </a:rPr>
              <a:t>Smart TV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0" y="44622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FC5"/>
                </a:solidFill>
              </a:rPr>
              <a:t>Automation Engineering  | 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78D4">
              <a:alpha val="15000"/>
            </a:srgbClr>
          </a:solidFill>
          <a:ln w="12700">
            <a:solidFill>
              <a:srgbClr val="0078D4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00C2FF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Traditional Frameworks Are Broken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1371600"/>
          </a:xfrm>
          <a:prstGeom prst="rect">
            <a:avLst/>
          </a:prstGeom>
          <a:solidFill>
            <a:srgbClr val="152232"/>
          </a:solidFill>
          <a:ln w="12700">
            <a:solidFill>
              <a:srgbClr val="FF5252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54864" cy="13716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Platform-Specific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18013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5"/>
                </a:solidFill>
              </a:rPr>
              <a:t>Separate frameworks for Web and Mobile — no unification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325880"/>
            <a:ext cx="4023360" cy="1371600"/>
          </a:xfrm>
          <a:prstGeom prst="rect">
            <a:avLst/>
          </a:prstGeom>
          <a:solidFill>
            <a:srgbClr val="152232"/>
          </a:solidFill>
          <a:ln w="12700">
            <a:solidFill>
              <a:srgbClr val="FF5252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25880"/>
            <a:ext cx="54864" cy="13716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916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Hard to Scale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349240" y="18013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5"/>
                </a:solidFill>
              </a:rPr>
              <a:t>Cannot handle multi-device execution without major rework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971800"/>
            <a:ext cx="4023360" cy="1371600"/>
          </a:xfrm>
          <a:prstGeom prst="rect">
            <a:avLst/>
          </a:prstGeom>
          <a:solidFill>
            <a:srgbClr val="152232"/>
          </a:solidFill>
          <a:ln w="12700">
            <a:solidFill>
              <a:srgbClr val="FF5252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971800"/>
            <a:ext cx="54864" cy="13716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375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Not Reusable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960120" y="34472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5"/>
                </a:solidFill>
              </a:rPr>
              <a:t>Logic duplicated across environments and teams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971800"/>
            <a:ext cx="4023360" cy="1371600"/>
          </a:xfrm>
          <a:prstGeom prst="rect">
            <a:avLst/>
          </a:prstGeom>
          <a:solidFill>
            <a:srgbClr val="152232"/>
          </a:solidFill>
          <a:ln w="12700">
            <a:solidFill>
              <a:srgbClr val="FF5252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971800"/>
            <a:ext cx="54864" cy="13716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3375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Weak Reporting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349240" y="34472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5"/>
                </a:solidFill>
              </a:rPr>
              <a:t>No centralized visibility into test outcomes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78D4">
              <a:alpha val="15000"/>
            </a:srgbClr>
          </a:solidFill>
          <a:ln w="12700">
            <a:solidFill>
              <a:srgbClr val="0078D4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E676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Framework. Every Platform.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0" y="2011680"/>
            <a:ext cx="2194560" cy="219456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3774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3063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UNIFIED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FRAMEWORK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" y="2286000"/>
            <a:ext cx="16459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FF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39572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244144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Web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82880" y="3200400"/>
            <a:ext cx="16459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FF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310128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335584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Android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223760" y="2286000"/>
            <a:ext cx="16459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FF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395728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726680" y="244144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iOS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223760" y="3200400"/>
            <a:ext cx="16459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FF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310128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726680" y="335584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Tablet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749040" y="4434840"/>
            <a:ext cx="16459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FF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4544568"/>
            <a:ext cx="347472" cy="34747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251960" y="459028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 TV</a:t>
            </a:r>
            <a:endParaRPr lang="en-US" sz="1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1261872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48640" y="1234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Platform-agnostic execution</a:t>
            </a:r>
            <a:endParaRPr lang="en-US" sz="10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1581912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48640" y="1554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Zero code duplication</a:t>
            </a:r>
            <a:endParaRPr lang="en-US" sz="10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1901952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48640" y="1874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Multi-device data-driven runs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78D4">
              <a:alpha val="15000"/>
            </a:srgbClr>
          </a:solidFill>
          <a:ln w="12700">
            <a:solidFill>
              <a:srgbClr val="0078D4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FF"/>
                </a:solidFill>
              </a:rPr>
              <a:t>EVOLUTION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Old vs New Framework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108960" y="1051560"/>
            <a:ext cx="2651760" cy="36576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051560"/>
            <a:ext cx="2834640" cy="365760"/>
          </a:xfrm>
          <a:prstGeom prst="rect">
            <a:avLst/>
          </a:prstGeom>
          <a:solidFill>
            <a:srgbClr val="006E3C"/>
          </a:solidFill>
          <a:ln w="12700">
            <a:solidFill>
              <a:srgbClr val="006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07899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OLD APPROACH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107899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NEW FRAMEWORK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8595360" cy="438912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270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Platform Support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15270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</a:rPr>
              <a:t>Single Platform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15270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676"/>
                </a:solidFill>
              </a:rPr>
              <a:t>Multi-Platform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938528"/>
            <a:ext cx="8595360" cy="438912"/>
          </a:xfrm>
          <a:prstGeom prst="rect">
            <a:avLst/>
          </a:prstGeom>
          <a:solidFill>
            <a:srgbClr val="111B27"/>
          </a:solidFill>
          <a:ln w="12700">
            <a:solidFill>
              <a:srgbClr val="111B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0253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Driver Handling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20025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</a:rPr>
              <a:t>Manual Setup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00253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676"/>
                </a:solidFill>
              </a:rPr>
              <a:t>WebDriverManager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414016"/>
            <a:ext cx="8595360" cy="438912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780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Test Execution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24780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</a:rPr>
              <a:t>Static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2478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676"/>
                </a:solidFill>
              </a:rPr>
              <a:t>Data-Driven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889504"/>
            <a:ext cx="8595360" cy="438912"/>
          </a:xfrm>
          <a:prstGeom prst="rect">
            <a:avLst/>
          </a:prstGeom>
          <a:solidFill>
            <a:srgbClr val="111B27"/>
          </a:solidFill>
          <a:ln w="12700">
            <a:solidFill>
              <a:srgbClr val="111B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535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Scalability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08960" y="29535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</a:rPr>
              <a:t>Low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29535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676"/>
                </a:solidFill>
              </a:rPr>
              <a:t>High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364992"/>
            <a:ext cx="8595360" cy="438912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42900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Reporting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08960" y="34290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</a:rPr>
              <a:t>Basic Logs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34290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676"/>
                </a:solidFill>
              </a:rPr>
              <a:t>Extent Reports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3840480"/>
            <a:ext cx="8595360" cy="438912"/>
          </a:xfrm>
          <a:prstGeom prst="rect">
            <a:avLst/>
          </a:prstGeom>
          <a:solidFill>
            <a:srgbClr val="111B27"/>
          </a:solidFill>
          <a:ln w="12700">
            <a:solidFill>
              <a:srgbClr val="111B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9044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Code Reusability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08960" y="39044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</a:rPr>
              <a:t>Low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39044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676"/>
                </a:solidFill>
              </a:rPr>
              <a:t>High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315968"/>
            <a:ext cx="8595360" cy="438912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3799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Device Coverage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108960" y="43799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rgbClr val="FF5252"/>
                </a:solidFill>
              </a:rPr>
              <a:t>Web, Android, iOS, TV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0" y="43799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rgbClr val="00E676"/>
                </a:solidFill>
              </a:rPr>
              <a:t>Web, Android, iOS, TV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78D4">
              <a:alpha val="15000"/>
            </a:srgbClr>
          </a:solidFill>
          <a:ln w="12700">
            <a:solidFill>
              <a:srgbClr val="0078D4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FF"/>
                </a:solidFill>
              </a:rPr>
              <a:t>TECHNOLOGIES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Tech Stack &amp; Optimizations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1554480"/>
          </a:xfrm>
          <a:prstGeom prst="rect">
            <a:avLst/>
          </a:prstGeom>
          <a:solidFill>
            <a:srgbClr val="152232"/>
          </a:solidFill>
          <a:ln w="12700">
            <a:solidFill>
              <a:srgbClr val="FF980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651760" cy="5486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Java 17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5"/>
                </a:solidFill>
              </a:rPr>
              <a:t>Core Language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09728" cy="109728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800"/>
                </a:solidFill>
              </a:rPr>
              <a:t>Production Ready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651760" cy="1554480"/>
          </a:xfrm>
          <a:prstGeom prst="rect">
            <a:avLst/>
          </a:prstGeom>
          <a:solidFill>
            <a:srgbClr val="152232"/>
          </a:solidFill>
          <a:ln w="12700">
            <a:solidFill>
              <a:srgbClr val="43A8E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43000"/>
            <a:ext cx="2651760" cy="54864"/>
          </a:xfrm>
          <a:prstGeom prst="rect">
            <a:avLst/>
          </a:prstGeom>
          <a:solidFill>
            <a:srgbClr val="43A8E6"/>
          </a:solidFill>
          <a:ln w="12700">
            <a:solidFill>
              <a:srgbClr val="43A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Selenium 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5"/>
                </a:solidFill>
              </a:rPr>
              <a:t>Web Automation (BOM)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2148840"/>
            <a:ext cx="109728" cy="109728"/>
          </a:xfrm>
          <a:prstGeom prst="ellipse">
            <a:avLst/>
          </a:prstGeom>
          <a:solidFill>
            <a:srgbClr val="43A8E6"/>
          </a:solidFill>
          <a:ln w="12700">
            <a:solidFill>
              <a:srgbClr val="43A8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3A8E6"/>
                </a:solidFill>
              </a:rPr>
              <a:t>Production Ready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1143000"/>
            <a:ext cx="2651760" cy="1554480"/>
          </a:xfrm>
          <a:prstGeom prst="rect">
            <a:avLst/>
          </a:prstGeom>
          <a:solidFill>
            <a:srgbClr val="152232"/>
          </a:solidFill>
          <a:ln w="12700">
            <a:solidFill>
              <a:srgbClr val="00E67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143000"/>
            <a:ext cx="265176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Appium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5"/>
                </a:solidFill>
              </a:rPr>
              <a:t>Mobile Automation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148840"/>
            <a:ext cx="109728" cy="10972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</a:rPr>
              <a:t>Production Ready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971800"/>
            <a:ext cx="2651760" cy="1554480"/>
          </a:xfrm>
          <a:prstGeom prst="rect">
            <a:avLst/>
          </a:prstGeom>
          <a:solidFill>
            <a:srgbClr val="152232"/>
          </a:solidFill>
          <a:ln w="12700">
            <a:solidFill>
              <a:srgbClr val="FF7043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971800"/>
            <a:ext cx="2651760" cy="54864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TestNG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5"/>
                </a:solidFill>
              </a:rPr>
              <a:t>Execution Engine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109728" cy="109728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931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7043"/>
                </a:solidFill>
              </a:rPr>
              <a:t>Production Ready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0" y="2971800"/>
            <a:ext cx="2651760" cy="1554480"/>
          </a:xfrm>
          <a:prstGeom prst="rect">
            <a:avLst/>
          </a:prstGeom>
          <a:solidFill>
            <a:srgbClr val="152232"/>
          </a:solidFill>
          <a:ln w="12700">
            <a:solidFill>
              <a:srgbClr val="00C2FF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971800"/>
            <a:ext cx="265176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WebDriverManager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33756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5"/>
                </a:solidFill>
              </a:rPr>
              <a:t>Auto Driver Resolution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37560" y="3977640"/>
            <a:ext cx="109728" cy="10972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3931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FF"/>
                </a:solidFill>
              </a:rPr>
              <a:t>Production Ready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80760" y="2971800"/>
            <a:ext cx="2651760" cy="1554480"/>
          </a:xfrm>
          <a:prstGeom prst="rect">
            <a:avLst/>
          </a:prstGeom>
          <a:solidFill>
            <a:srgbClr val="152232"/>
          </a:solidFill>
          <a:ln w="12700">
            <a:solidFill>
              <a:srgbClr val="9C27B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2971800"/>
            <a:ext cx="2651760" cy="54864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Extent Reports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21792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5"/>
                </a:solidFill>
              </a:rPr>
              <a:t>Reporting &amp; Visibility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3977640"/>
            <a:ext cx="109728" cy="109728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3931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27B0"/>
                </a:solidFill>
              </a:rPr>
              <a:t>Production Ready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78D4">
              <a:alpha val="15000"/>
            </a:srgbClr>
          </a:solidFill>
          <a:ln w="12700">
            <a:solidFill>
              <a:srgbClr val="0078D4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FF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Framework Layer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7863840" cy="713232"/>
          </a:xfrm>
          <a:prstGeom prst="rect">
            <a:avLst/>
          </a:prstGeom>
          <a:solidFill>
            <a:srgbClr val="152232"/>
          </a:solidFill>
          <a:ln w="12700">
            <a:solidFill>
              <a:srgbClr val="00C2FF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88720"/>
            <a:ext cx="54864" cy="7132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6187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🧪  TEST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5361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5"/>
                </a:solidFill>
              </a:rPr>
              <a:t>AT_Scripts — Web, Android, iOS, Browser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901952"/>
            <a:ext cx="0" cy="182880"/>
          </a:xfrm>
          <a:prstGeom prst="line">
            <a:avLst/>
          </a:prstGeom>
          <a:noFill/>
          <a:ln w="12700">
            <a:solidFill>
              <a:srgbClr val="8BAFC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71600" y="2084832"/>
            <a:ext cx="6400800" cy="713232"/>
          </a:xfrm>
          <a:prstGeom prst="rect">
            <a:avLst/>
          </a:prstGeom>
          <a:solidFill>
            <a:srgbClr val="152232"/>
          </a:solidFill>
          <a:ln w="12700">
            <a:solidFill>
              <a:srgbClr val="00E676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0" y="2084832"/>
            <a:ext cx="54864" cy="71323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15798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DATA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243230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5"/>
                </a:solidFill>
              </a:rPr>
              <a:t>DataProviders — Device configs, Environments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798064"/>
            <a:ext cx="0" cy="182880"/>
          </a:xfrm>
          <a:prstGeom prst="line">
            <a:avLst/>
          </a:prstGeom>
          <a:noFill/>
          <a:ln w="12700">
            <a:solidFill>
              <a:srgbClr val="8BAFC5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103120" y="2980944"/>
            <a:ext cx="4937760" cy="713232"/>
          </a:xfrm>
          <a:prstGeom prst="rect">
            <a:avLst/>
          </a:prstGeom>
          <a:solidFill>
            <a:srgbClr val="152232"/>
          </a:solidFill>
          <a:ln w="12700">
            <a:solidFill>
              <a:srgbClr val="FF9800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03120" y="2980944"/>
            <a:ext cx="54864" cy="71323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30540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🔧  UTILITY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33284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5"/>
                </a:solidFill>
              </a:rPr>
              <a:t>Screenshots · Reporting · Helpers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694176"/>
            <a:ext cx="0" cy="182880"/>
          </a:xfrm>
          <a:prstGeom prst="line">
            <a:avLst/>
          </a:prstGeom>
          <a:noFill/>
          <a:ln w="12700">
            <a:solidFill>
              <a:srgbClr val="8BAFC5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743200" y="3877056"/>
            <a:ext cx="3657600" cy="713232"/>
          </a:xfrm>
          <a:prstGeom prst="rect">
            <a:avLst/>
          </a:prstGeom>
          <a:solidFill>
            <a:srgbClr val="152232"/>
          </a:solidFill>
          <a:ln w="12700">
            <a:solidFill>
              <a:srgbClr val="9C27B0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0" y="3877056"/>
            <a:ext cx="54864" cy="713232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39502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RUNNER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4224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5"/>
                </a:solidFill>
              </a:rPr>
              <a:t>TestNG XML · Cross-browser runner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78D4">
              <a:alpha val="15000"/>
            </a:srgbClr>
          </a:solidFill>
          <a:ln w="12700">
            <a:solidFill>
              <a:srgbClr val="0078D4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FF"/>
                </a:solidFill>
              </a:rPr>
              <a:t>OPTIMIZATIONS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Key Engineering Decisions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20240" cy="1463040"/>
          </a:xfrm>
          <a:prstGeom prst="rect">
            <a:avLst/>
          </a:prstGeom>
          <a:solidFill>
            <a:srgbClr val="152232"/>
          </a:solidFill>
          <a:ln w="12700">
            <a:solidFill>
              <a:srgbClr val="0078D4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8D4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84048" y="1755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Selenium BOM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5"/>
                </a:solidFill>
              </a:rPr>
              <a:t>Avoids version conflicts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1920240" cy="1463040"/>
          </a:xfrm>
          <a:prstGeom prst="rect">
            <a:avLst/>
          </a:prstGeom>
          <a:solidFill>
            <a:srgbClr val="152232"/>
          </a:solidFill>
          <a:ln w="12700">
            <a:solidFill>
              <a:srgbClr val="0078D4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280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8D4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32888" y="1755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WebDriverManager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32888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5"/>
                </a:solidFill>
              </a:rPr>
              <a:t>Auto driver resolution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1920240" cy="1463040"/>
          </a:xfrm>
          <a:prstGeom prst="rect">
            <a:avLst/>
          </a:prstGeom>
          <a:solidFill>
            <a:srgbClr val="152232"/>
          </a:solidFill>
          <a:ln w="12700">
            <a:solidFill>
              <a:srgbClr val="0078D4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280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8D4"/>
                </a:solidFill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81728" y="1755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Data-Driven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5"/>
                </a:solidFill>
              </a:rPr>
              <a:t>Multi-device DataProviders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1188720"/>
            <a:ext cx="1920240" cy="1463040"/>
          </a:xfrm>
          <a:prstGeom prst="rect">
            <a:avLst/>
          </a:prstGeom>
          <a:solidFill>
            <a:srgbClr val="152232"/>
          </a:solidFill>
          <a:ln w="12700">
            <a:solidFill>
              <a:srgbClr val="0078D4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280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8D4"/>
                </a:solidFill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30568" y="1755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Modular Design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30568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5"/>
                </a:solidFill>
              </a:rPr>
              <a:t>Separate classes per platform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1920240" cy="1463040"/>
          </a:xfrm>
          <a:prstGeom prst="rect">
            <a:avLst/>
          </a:prstGeom>
          <a:solidFill>
            <a:srgbClr val="152232"/>
          </a:solidFill>
          <a:ln w="12700">
            <a:solidFill>
              <a:srgbClr val="0078D4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017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8D4"/>
                </a:solidFill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4048" y="34930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Cross-Platform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5"/>
                </a:solidFill>
              </a:rPr>
              <a:t>Desktop · Mobile · TV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2926080"/>
            <a:ext cx="1920240" cy="1463040"/>
          </a:xfrm>
          <a:prstGeom prst="rect">
            <a:avLst/>
          </a:prstGeom>
          <a:solidFill>
            <a:srgbClr val="152232"/>
          </a:solidFill>
          <a:ln w="12700">
            <a:solidFill>
              <a:srgbClr val="0078D4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14600" y="3017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8D4"/>
                </a:solidFill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532888" y="34930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Extent Reports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32888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5"/>
                </a:solidFill>
              </a:rPr>
              <a:t>Debugging visibility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926080"/>
            <a:ext cx="1920240" cy="1463040"/>
          </a:xfrm>
          <a:prstGeom prst="rect">
            <a:avLst/>
          </a:prstGeom>
          <a:solidFill>
            <a:srgbClr val="152232"/>
          </a:solidFill>
          <a:ln w="12700">
            <a:solidFill>
              <a:srgbClr val="0078D4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63440" y="3017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8D4"/>
                </a:solidFill>
              </a:rPr>
              <a:t>07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681728" y="34930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Screenshot Utility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81728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5"/>
                </a:solidFill>
              </a:rPr>
              <a:t>Capture on failure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78D4">
              <a:alpha val="15000"/>
            </a:srgbClr>
          </a:solidFill>
          <a:ln w="12700">
            <a:solidFill>
              <a:srgbClr val="0078D4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FF"/>
                </a:solidFill>
              </a:rPr>
              <a:t>SETUP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 of Procedure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" cy="41148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Clone Repository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533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&lt;repo-url&gt;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11480" cy="41148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in IntelliJ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 Maven Project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11480" cy="41148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Install Deps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090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clean install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411480" cy="411480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Configure TestNG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959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2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testng.xml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143000"/>
            <a:ext cx="411480" cy="411480"/>
          </a:xfrm>
          <a:prstGeom prst="ellipse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1097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Setup Devices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13533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Appium + Emulator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01168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 Tests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0078D4"/>
                </a:solidFill>
                <a:latin typeface="Consolas" pitchFamily="34" charset="0"/>
              </a:rPr>
              <a:t>Via Test Runner in test/java path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880360"/>
            <a:ext cx="411480" cy="41148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1208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View Reports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3090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Extent Report HTML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78D4">
              <a:alpha val="15000"/>
            </a:srgbClr>
          </a:solidFill>
          <a:ln w="12700">
            <a:solidFill>
              <a:srgbClr val="0078D4">
                <a:alpha val="15000"/>
              </a:srgbClr>
            </a:solidFill>
            <a:prstDash val="solid"/>
          </a:ln>
        </p:spPr>
      </p:sp>
      <p:sp>
        <p:nvSpPr>
          <p:cNvPr id="34" name="Rectangle 1"/>
          <p:cNvSpPr>
            <a:spLocks noChangeArrowheads="1"/>
          </p:cNvSpPr>
          <p:nvPr/>
        </p:nvSpPr>
        <p:spPr bwMode="auto">
          <a:xfrm>
            <a:off x="4715220" y="398185"/>
            <a:ext cx="4285148" cy="45243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b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├── Web</a:t>
            </a:r>
            <a:b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├── Mobile</a:t>
            </a:r>
            <a:b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    ├── </a:t>
            </a:r>
            <a:r>
              <a:rPr kumimoji="0" lang="en-US" altLang="en-US" sz="1600" b="1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Android_Mobile</a:t>
            </a: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    │    ├── </a:t>
            </a:r>
            <a:r>
              <a:rPr kumimoji="0" lang="en-US" altLang="en-US" sz="1600" b="1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Android_Mobile_App</a:t>
            </a: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    │    └── </a:t>
            </a:r>
            <a:r>
              <a:rPr kumimoji="0" lang="en-US" altLang="en-US" sz="1600" b="1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Android_Mobile_Browser</a:t>
            </a: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    └── </a:t>
            </a:r>
            <a:r>
              <a:rPr kumimoji="0" lang="en-US" altLang="en-US" sz="1600" b="1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iOS_Mobile</a:t>
            </a: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         ├── </a:t>
            </a:r>
            <a:r>
              <a:rPr kumimoji="0" lang="en-US" altLang="en-US" sz="1600" b="1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iOS_Mobile_App</a:t>
            </a: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         └── </a:t>
            </a:r>
            <a:r>
              <a:rPr kumimoji="0" lang="en-US" altLang="en-US" sz="1600" b="1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iOS_Mobile_Browser</a:t>
            </a: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├── Tablet</a:t>
            </a:r>
            <a:b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    ├── </a:t>
            </a:r>
            <a:r>
              <a:rPr kumimoji="0" lang="en-US" altLang="en-US" sz="1600" b="1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Android_Tablet</a:t>
            </a: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    │    ├── </a:t>
            </a:r>
            <a:r>
              <a:rPr kumimoji="0" lang="en-US" altLang="en-US" sz="1600" b="1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Android_Tablet_App</a:t>
            </a: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    │    └── </a:t>
            </a:r>
            <a:r>
              <a:rPr kumimoji="0" lang="en-US" altLang="en-US" sz="1600" b="1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Android_Tablet_Browser</a:t>
            </a: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    └── </a:t>
            </a:r>
            <a:r>
              <a:rPr kumimoji="0" lang="en-US" altLang="en-US" sz="1600" b="1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iOS_iPad</a:t>
            </a: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         ├── </a:t>
            </a:r>
            <a:r>
              <a:rPr kumimoji="0" lang="en-US" altLang="en-US" sz="1600" b="1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iOS_iPad_App</a:t>
            </a: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│         └── </a:t>
            </a:r>
            <a:r>
              <a:rPr kumimoji="0" lang="en-US" altLang="en-US" sz="1600" b="1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iOS_iPad_Browser</a:t>
            </a: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└── TV</a:t>
            </a:r>
            <a:b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└── </a:t>
            </a:r>
            <a:r>
              <a:rPr kumimoji="0" lang="en-US" altLang="en-US" sz="1600" b="1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AndroidTV</a:t>
            </a:r>
            <a:endParaRPr kumimoji="0" lang="en-US" altLang="en-US" sz="1600" b="1" u="none" strike="noStrike" cap="none" normalizeH="0" baseline="0" dirty="0" smtClean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86439" y="2434728"/>
            <a:ext cx="3127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Arial Black" panose="020B0A04020102020204" pitchFamily="34" charset="0"/>
              </a:rPr>
              <a:t>GROUP SEGREGATION:</a:t>
            </a:r>
            <a:endParaRPr lang="en-IN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769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78D4">
              <a:alpha val="15000"/>
            </a:srgbClr>
          </a:solidFill>
          <a:ln w="12700">
            <a:solidFill>
              <a:srgbClr val="0078D4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2FF"/>
                </a:solidFill>
              </a:rPr>
              <a:t>KEY HIGHLIGHTS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Sets This Framework Apart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94360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5943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4416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2984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"Platform-agnostic — one codebase runs everywhere"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920240"/>
            <a:ext cx="8412480" cy="594360"/>
          </a:xfrm>
          <a:prstGeom prst="rect">
            <a:avLst/>
          </a:prstGeom>
          <a:solidFill>
            <a:srgbClr val="111B27"/>
          </a:solidFill>
          <a:ln w="12700">
            <a:solidFill>
              <a:srgbClr val="111B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920240"/>
            <a:ext cx="64008" cy="5943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7568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0299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"Centralized execution logic eliminates duplication"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65760" y="2651760"/>
            <a:ext cx="8412480" cy="594360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5760" y="2651760"/>
            <a:ext cx="64008" cy="5943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0720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276148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"DataProviders enable true multi-device test runs"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65760" y="3383280"/>
            <a:ext cx="8412480" cy="594360"/>
          </a:xfrm>
          <a:prstGeom prst="rect">
            <a:avLst/>
          </a:prstGeom>
          <a:solidFill>
            <a:srgbClr val="111B27"/>
          </a:solidFill>
          <a:ln w="12700">
            <a:solidFill>
              <a:srgbClr val="111B27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65760" y="3383280"/>
            <a:ext cx="64008" cy="5943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38728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34930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"WebDriverManager removes all manual driver overhead"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365760" y="4114800"/>
            <a:ext cx="8412480" cy="594360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65760" y="4114800"/>
            <a:ext cx="64008" cy="5943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70248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0120" y="422452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"Supports real devices, emulators &amp; browsers equally"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78D4">
              <a:alpha val="15000"/>
            </a:srgbClr>
          </a:solidFill>
          <a:ln w="12700">
            <a:solidFill>
              <a:srgbClr val="0078D4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0078D4">
              <a:alpha val="12000"/>
            </a:srgbClr>
          </a:solidFill>
          <a:ln w="12700">
            <a:solidFill>
              <a:srgbClr val="0078D4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FRAMEWORK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200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INFINITE POSSIBILITIES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FC5"/>
                </a:solidFill>
              </a:rPr>
              <a:t>Web  ·  Android  ·  iOS  ·  Tablet  ·  Smart TV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200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37160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FC5"/>
                </a:solidFill>
              </a:rPr>
              <a:t>Platforms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3200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84048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FC5"/>
                </a:solidFill>
              </a:rPr>
              <a:t>Duplication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3200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FC5"/>
                </a:solidFill>
              </a:rPr>
              <a:t>Scalability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7823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Built for Scale · Built for Speed · Built for the Future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13</TotalTime>
  <Words>427</Words>
  <Application>Microsoft Office PowerPoint</Application>
  <PresentationFormat>On-screen Show (16:9)</PresentationFormat>
  <Paragraphs>160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Calibri</vt:lpstr>
      <vt:lpstr>Century Gothic</vt:lpstr>
      <vt:lpstr>Consolas</vt:lpstr>
      <vt:lpstr>Times New Roman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Automation Framework</dc:title>
  <dc:subject>PptxGenJS Presentation</dc:subject>
  <dc:creator>PptxGenJS</dc:creator>
  <cp:lastModifiedBy>User</cp:lastModifiedBy>
  <cp:revision>3</cp:revision>
  <dcterms:created xsi:type="dcterms:W3CDTF">2026-05-22T09:46:59Z</dcterms:created>
  <dcterms:modified xsi:type="dcterms:W3CDTF">2026-05-22T10:33:58Z</dcterms:modified>
</cp:coreProperties>
</file>